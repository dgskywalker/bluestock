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B4D8"/>
                </a:solidFill>
              </a:defRPr>
            </a:pPr>
            <a:r>
              <a:t>BLUESTOCK MUTUAL FUND ANALYTICS</a:t>
            </a:r>
          </a:p>
          <a:p>
            <a:pPr>
              <a:spcAft>
                <a:spcPts val="2000"/>
              </a:spcAft>
              <a:defRPr sz="1800">
                <a:solidFill>
                  <a:srgbClr val="FFFFFF"/>
                </a:solidFill>
              </a:defRPr>
            </a:pPr>
            <a:r>
              <a:t>End-to-End Data Engineering, Quantitative Risk Analytics &amp; Power BI Dashboard</a:t>
            </a:r>
          </a:p>
          <a:p>
            <a:pPr>
              <a:defRPr sz="1200">
                <a:solidFill>
                  <a:srgbClr val="A0AAB2"/>
                </a:solidFill>
              </a:defRPr>
            </a:pPr>
            <a:r>
              <a:t>Prepared by: Divyansh Gupta | Repository: github.com/DGskywalker/BlueStock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BLUESTOCK MUTUAL FUND ANALYTICS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 &amp; Capstone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00B4D8"/>
                </a:solidFill>
              </a:defRPr>
            </a:pPr>
            <a:r>
              <a:t>Industry Problem Statement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Fragmented Mutual Fund Data: Ingestion across disparate sources (AMFI, NAV histories, portfolio disclosures, transaction logs).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Data Quality Gaps: Weekend/holiday NAV gaps, unstandardized transaction types, unverified KYC statuses.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Lack of Integrated Risk Metrics: Need for comprehensive risk-adjusted evaluation (Sharpe, Sortino, Alpha, Beta, VaR, CVaR).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Executive Accessibility: Fragmented datasets hinder real-time executive decision-making.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06D6A0"/>
                </a:solidFill>
              </a:defRPr>
            </a:pPr>
            <a:r>
              <a:t>Core Capstone Objectives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Build Production ETL Pipeline: Ingest, clean, validate, and load 10 datasets into SQLite Star Schema.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Perform 15+ EDA Visualizations: Uncover AUM growth, SIP inflows, and demographic participation.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Quantitative Risk Modeling: Compute CAGRs, Sharpe/Sortino, OLS Alpha/Beta, 95% VaR &amp; CVaR.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Composite 0-100 Scorecard: Multi-attribute algorithm ranking all 40 schemes.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Power BI Executive Dashboard: Build 4 interactive pages with full slicer &amp; drill-through capability.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BLUESTOCK MUTUAL FUND ANALYTICS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 Sources &amp; SQLite Star Schema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00B4D8"/>
                </a:solidFill>
              </a:defRPr>
            </a:pPr>
            <a:r>
              <a:t>10 Cleaned Datasets Ingested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01_fund_master.csv (40 Schemes metadata)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02_nav_history.csv (64,320 Daily NAV records)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03_aum_by_fund_house.csv (90 AMC AUM trends)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04_monthly_sip_inflows.csv (48 Monthly SIP records)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05_category_inflows.csv (144 Category Net Flow records)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06_industry_folio_count.csv (21 Folio expansion records)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07_scheme_performance.csv (40 Scheme Return &amp; Risk metrics)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08_investor_transactions.csv (32,778 Investor transactions)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09_portfolio_holdings.csv (322 Stock sector holdings)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10_benchmark_indices.csv (8,050 Market index records)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FF9F1C"/>
                </a:solidFill>
              </a:defRPr>
            </a:pPr>
            <a:r>
              <a:t>Star Schema Database Design (bluestock_mf.db)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Dimension Tables: dim_fund (AMFI PK), dim_date (Calendar PK).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Fact Tables: fact_nav, fact_transactions, fact_performance, fact_aum, fact_portfolio_holdings, fact_category_inflows, fact_sip_inflows, fact_benchmark_indices, fact_industry_folio_count.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Integrity Constraints: Foreign Keys linking fact tables to dim_fund &amp; dim_date.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Performance Optimization: Composite indexes on (amfi_code, date) for sub-millisecond query execution.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BLUESTOCK MUTUAL FUND ANALYTICS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ETL Data Pipeline &amp; Quality Assurance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00B4D8"/>
                </a:solidFill>
              </a:defRPr>
            </a:pPr>
            <a:r>
              <a:t>Data Cleaning &amp; Transformation Engine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NAV Gap Forward-Fill: Reindexed NAV history daily per fund across 1,642 days; expanded history from 46K to 64,320 complete rows.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Transaction Standardization: Standardized transaction types (SIP, Lumpsum, Redemption) &amp; validated net amounts.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Expense Ratio &amp; Return Validation: Ensured expense ratios fall within 0.1%–2.5% bounds (actual: 0.55%–1.64%).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Live API Integration: Configured live NAV fetching module via mfapi.in API.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06D6A0"/>
                </a:solidFill>
              </a:defRPr>
            </a:pPr>
            <a:r>
              <a:t>Database Load Verification (100% Match)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dim_fund: Source 40 | SQLite 40 (MATCH)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fact_nav: Source 64,320 | SQLite 64,320 (MATCH)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fact_transactions: Source 32,778 | SQLite 32,778 (MATCH)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fact_performance: Source 40 | SQLite 40 (MATCH)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fact_aum: Source 90 | SQLite 90 (MATCH)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fact_portfolio_holdings: Source 322 | SQLite 322 (MATCH)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fact_benchmark_indices: Source 8,050 | SQLite 8,050 (MATCH)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dim_date: Generated 1,642 Calendar Days (MATCH)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BLUESTOCK MUTUAL FUND ANALYTICS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EDA Highlights: Market Expansion &amp; AMC Leadership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00B4D8"/>
                </a:solidFill>
              </a:defRPr>
            </a:pPr>
            <a:r>
              <a:t>NAV Trend Analysis (2022–2026)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2023 Bull Run Phase: Strong market expansion (April–Dec 2023) driving equity NAVs to all-time highs.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2024 Election &amp; Macro Resilience: Brief market pullbacks in June 2024 &amp; Oct 2024 followed by rapid recovery.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Long-Term Growth: Equity schemes delivered 25%+ 3-year CAGRs across mid cap &amp; small cap categories.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FF9F1C"/>
                </a:solidFill>
              </a:defRPr>
            </a:pPr>
            <a:r>
              <a:t>AMC Market Share Leadership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SBI Mutual Fund Dominance: Surpassed ₹12.5 Lakh Crores AUM across reported schemes, maintaining #1 market share.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Top AMC Tier: ICICI Prudential, HDFC Mutual Fund, Kotak Mahindra, Nippon India, and Axis Mutual Fund constitute over 70% of total industry AUM.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Equity Dominance: Equity funds represent over 62% of aggregate sampled AUM.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BLUESTOCK MUTUAL FUND ANALYTICS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EDA Highlights: Retail SIP Inflows &amp; Demographics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06D6A0"/>
                </a:solidFill>
              </a:defRPr>
            </a:pPr>
            <a:r>
              <a:t>Monthly SIP Inflow Surge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All-Time Peak Record: Monthly SIP inflows reached ₹31,002 Crores in December 2025.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Growth Rate: 169% expansion from ₹11,517 Cr in January 2022.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Folio Doubling: Total industry folios nearly doubled from 13.26 Cr to 26.12 Cr.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00B4D8"/>
                </a:solidFill>
              </a:defRPr>
            </a:pPr>
            <a:r>
              <a:t>Investor Demographic Insights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Core Age Bracket: Investors aged 26–50 comprise 69.6% of active transaction accounts.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Senior Ticket Size: Investors aged 51–65 exhibit higher median SIP amounts (₹7,500+) than entry-level cohorts (₹2,500–₹5,000).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Geographic Distribution: Maharashtra, Gujarat, Punjab &amp; Tamil Nadu lead total investment volume, accompanied by rapid B30 tier-2/3 expansion.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BLUESTOCK MUTUAL FUND ANALYTICS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Performance Analytics &amp; Composite Scorecard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00B4D8"/>
                </a:solidFill>
              </a:defRPr>
            </a:pPr>
            <a:r>
              <a:t>Multi-Attribute Scorecard Algorithm (0–100)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30% Weight: 3-Year CAGR Return Rank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25% Weight: Sharpe Ratio Rank (Risk-Adjusted Return)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20% Weight: Annualized Alpha Rank (Manager Skill)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15% Weight: Expense Ratio Rank (Inverse)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10% Weight: Max Drawdown Rank (Inverse Risk)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FF9F1C"/>
                </a:solidFill>
              </a:defRPr>
            </a:pPr>
            <a:r>
              <a:t>Top 5 Composite Rated Schemes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#1 ICICI Pru Midcap Fund (Score: 85.1 | 3Y CAGR: 31.78% | Sharpe: 0.88)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#2 Axis Midcap Fund (Score: 82.0 | 3Y CAGR: 35.11% | Sharpe: 0.73)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#3 HDFC Mid-Cap Opportunities (Score: 80.5 | 3Y CAGR: 32.44% | Sharpe: 0.81)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#4 Mirae Asset Large Cap (Score: 80.0 | 3Y CAGR: 34.00% | Sharpe: 1.07)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#5 Nippon India Small Cap (Score: 78.6 | 3Y CAGR: 36.45% | Sharpe: 0.82)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BLUESTOCK MUTUAL FUND ANALYTICS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Quantitative Risk Diagnostics: Alpha, Beta &amp; Tail Risk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00B4D8"/>
                </a:solidFill>
              </a:defRPr>
            </a:pPr>
            <a:r>
              <a:t>OLS Regression Alpha &amp; Beta vs NIFTY 100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Alpha Outperformance: Top mid cap and small cap managers generated annualized Alpha &gt; +25.0% over NIFTY 100.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Systemic Beta: Equity funds range in Beta from 0.85 to 1.15; Debt &amp; Gilt schemes exhibit near-zero Beta (&lt; 0.05).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Statistical Significance: OLS regression models validated via scipy.stats.linregress.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06D6A0"/>
                </a:solidFill>
              </a:defRPr>
            </a:pPr>
            <a:r>
              <a:t>Historical 95% VaR &amp; CVaR Tail Risk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Small Cap Tail Risk: Small Cap schemes register highest tail loss (95% VaR = -2.39%, 95% CVaR = -3.03%).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Debt Tail Stability: Debt &amp; Gilt funds maintain extreme tail stability (95% VaR &gt; -0.20%).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HHI Concentration: Focused equity funds exhibit HHI &gt; 2,000, indicating high stock concentration risk.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BLUESTOCK MUTUAL FUND ANALYTICS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Power BI Executive Dashboard: Pages 1 &amp;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00B4D8"/>
                </a:solidFill>
              </a:defRPr>
            </a:pPr>
            <a:r>
              <a:t>Page 1: Industry Overview Dashboard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KPI Cards: Total AUM (₹81.4L Cr), Monthly SIP (₹31K Cr), Folios (26.12 Cr), Schemes (1,908).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Time-Series Visuals: Industry AUM Trend line &amp; Folio Expansion line.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AMC Bar Chart: AUM breakdown highlighting SBI Mutual Fund dominance.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FF9F1C"/>
                </a:solidFill>
              </a:defRPr>
            </a:pPr>
            <a:r>
              <a:t>Page 2: Fund Performance Analytics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Risk vs Return Scatter Plot: 3Y CAGR % (X) vs Volatility % (Y), bubble size = AUM.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Sortable Scorecard Table: Multi-metric financial diagnostics table.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NAV vs Benchmark Line: Normalized performance tracking vs NIFTY 50.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BLUESTOCK MUTUAL FUND ANALYTICS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Power BI Executive Dashboard: Pages 3 &amp;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06D6A0"/>
                </a:solidFill>
              </a:defRPr>
            </a:pPr>
            <a:r>
              <a:t>Page 3: Investor Demographics &amp; Behavior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State Bar Chart: Transaction volume breakdown by state.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Transaction Donut Split: SIP (60.15%), Lumpsum (24.70%), Redemption (15.15%).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Age Ticket Sizes: Bar chart showing average SIP size per age bracket.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00B4D8"/>
                </a:solidFill>
              </a:defRPr>
            </a:pPr>
            <a:r>
              <a:t>Page 4: SIP &amp; Market Trends Correlation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Dual-Axis Chart: Monthly SIP Inflow (Bar) + NIFTY 50 Close (Line).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Category Heatmap Matrix: Monthly net inflow color intensity across categories.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Top Categories FY25: Liquid &amp; Sectoral/Thematic leading net capital inflows.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BLUESTOCK MUTUAL FUND ANALYTICS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Strategic Recommendations &amp; Business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FF9F1C"/>
                </a:solidFill>
              </a:defRPr>
            </a:pPr>
            <a:r>
              <a:t>Strategic Product &amp; Distribution Recommendations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Promote High Risk-Adjusted Funds: Focus marketing on schemes with Sharpe &gt; 0.8 and low expense ratios.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Expand B30 Digital Onboarding: Target Tier 2/3 cities to capture growing retail SIP participation.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Standardize SIP Ticket Sizes: Introduce automated SIP step-up features for 26-35 age cohort.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00B4D8"/>
                </a:solidFill>
              </a:defRPr>
            </a:pPr>
            <a:r>
              <a:t>Platform &amp; Risk Management Roadmap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Automate At-Risk SIP Nudges: Use date gap monitoring (&gt;35 days) to trigger retention alerts.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Real-Time Tail Risk Monitoring: Integrate automated VaR/CVaR alerts during market volatility phases.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HHI Concentration Caps: Flag focused funds exceeding HHI &gt; 2,200 for portfolio rebalancing.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B4D8"/>
                </a:solidFill>
              </a:defRPr>
            </a:pPr>
            <a:r>
              <a:t>THANK YOU!</a:t>
            </a:r>
          </a:p>
          <a:p>
            <a:pPr>
              <a:spcAft>
                <a:spcPts val="2000"/>
              </a:spcAft>
              <a:defRPr sz="1800">
                <a:solidFill>
                  <a:srgbClr val="FFFFFF"/>
                </a:solidFill>
              </a:defRPr>
            </a:pPr>
            <a:r>
              <a:t>BlueStock Mutual Fund Analytics Capstone Project Complete</a:t>
            </a:r>
          </a:p>
          <a:p>
            <a:pPr>
              <a:defRPr sz="1300">
                <a:solidFill>
                  <a:srgbClr val="06D6A0"/>
                </a:solidFill>
              </a:defRPr>
            </a:pPr>
            <a:r>
              <a:t>GitHub Repository: github.com/DGskywalker/BlueStock (Release Tag v1.0)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